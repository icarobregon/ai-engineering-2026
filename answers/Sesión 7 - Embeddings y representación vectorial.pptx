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Tahoma"/>
      <p:regular r:id="rId18"/>
      <p:bold r:id="rId19"/>
    </p:embeddedFont>
    <p:embeddedFont>
      <p:font typeface="Helvetica Neue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regular.fntdata"/><Relationship Id="rId11" Type="http://schemas.openxmlformats.org/officeDocument/2006/relationships/slide" Target="slides/slide6.xml"/><Relationship Id="rId22" Type="http://schemas.openxmlformats.org/officeDocument/2006/relationships/font" Target="fonts/HelveticaNeue-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Tahoma-bold.fntdata"/><Relationship Id="rId6" Type="http://schemas.openxmlformats.org/officeDocument/2006/relationships/slide" Target="slides/slide1.xml"/><Relationship Id="rId18" Type="http://schemas.openxmlformats.org/officeDocument/2006/relationships/font" Target="fonts/Tahom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9b3f16c0_0_0:notes"/>
          <p:cNvSpPr/>
          <p:nvPr>
            <p:ph idx="2" type="sldImg"/>
          </p:nvPr>
        </p:nvSpPr>
        <p:spPr>
          <a:xfrm>
            <a:off x="381300" y="685801"/>
            <a:ext cx="6096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9a9b3f16c0_0_0:notes"/>
          <p:cNvSpPr txBox="1"/>
          <p:nvPr>
            <p:ph idx="1" type="body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a9b3f16c0_0_1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9a9b3f16c0_0_1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771e6301b_2_51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e771e6301b_2_51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771e6301b_2_31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e771e6301b_2_31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771e6301b_2_4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e771e6301b_2_4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771e6301b_2_3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e771e6301b_2_3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771e6301b_2_64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e771e6301b_2_64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771e6301b_2_6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e771e6301b_2_6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771e6301b_2_74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e771e6301b_2_74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771e6301b_2_7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e771e6301b_2_7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a9b3f16c0_0_1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9a9b3f16c0_0_1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a9b3f16c0_0_2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9a9b3f16c0_0_2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30169" y="1162524"/>
            <a:ext cx="76836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6.jpg"/><Relationship Id="rId5" Type="http://schemas.openxmlformats.org/officeDocument/2006/relationships/image" Target="../media/image3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0" l="0" r="11103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619125" y="3462938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200">
                <a:solidFill>
                  <a:schemeClr val="lt1"/>
                </a:solidFill>
              </a:rPr>
              <a:t>Mentor: </a:t>
            </a:r>
            <a:r>
              <a:rPr lang="es" sz="2200">
                <a:solidFill>
                  <a:schemeClr val="lt1"/>
                </a:solidFill>
              </a:rPr>
              <a:t>Juan Pablo Mesa López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200">
                <a:solidFill>
                  <a:schemeClr val="lt1"/>
                </a:solidFill>
              </a:rPr>
              <a:t>LIDR.co, training the Tech Leaders’ of the future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  <p:grpSp>
        <p:nvGrpSpPr>
          <p:cNvPr id="67" name="Google Shape;67;p15"/>
          <p:cNvGrpSpPr/>
          <p:nvPr/>
        </p:nvGrpSpPr>
        <p:grpSpPr>
          <a:xfrm>
            <a:off x="859281" y="4660913"/>
            <a:ext cx="3634798" cy="572700"/>
            <a:chOff x="5681806" y="4067013"/>
            <a:chExt cx="3634798" cy="572700"/>
          </a:xfrm>
        </p:grpSpPr>
        <p:pic>
          <p:nvPicPr>
            <p:cNvPr id="68" name="Google Shape;68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81806" y="4178804"/>
              <a:ext cx="187442" cy="199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5"/>
            <p:cNvSpPr txBox="1"/>
            <p:nvPr/>
          </p:nvSpPr>
          <p:spPr>
            <a:xfrm>
              <a:off x="5835675" y="4067013"/>
              <a:ext cx="1047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@lidr_ai</a:t>
              </a:r>
              <a:endParaRPr b="0" i="0" sz="15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" name="Google Shape;70;p15"/>
            <p:cNvSpPr txBox="1"/>
            <p:nvPr/>
          </p:nvSpPr>
          <p:spPr>
            <a:xfrm>
              <a:off x="6934904" y="4067013"/>
              <a:ext cx="23817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#followtheLIDR</a:t>
              </a:r>
              <a:endParaRPr b="0" i="0" sz="15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71" name="Google Shape;71;p15" title="Group 1197132858.png"/>
          <p:cNvPicPr preferRelativeResize="0"/>
          <p:nvPr/>
        </p:nvPicPr>
        <p:blipFill rotWithShape="1">
          <a:blip r:embed="rId5">
            <a:alphaModFix/>
          </a:blip>
          <a:srcRect b="-14110" l="0" r="0" t="-6590"/>
          <a:stretch/>
        </p:blipFill>
        <p:spPr>
          <a:xfrm>
            <a:off x="463069" y="435050"/>
            <a:ext cx="2283924" cy="65328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432700" y="994128"/>
            <a:ext cx="239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i="0" lang="es" sz="1048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AI-Powered products</a:t>
            </a:r>
            <a:endParaRPr b="1" i="0" sz="1048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19125" y="1563799"/>
            <a:ext cx="7268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lang="es" sz="16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MÓDULO 3: Data-driven AI</a:t>
            </a:r>
            <a:endParaRPr b="0" i="0" sz="13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19125" y="1911633"/>
            <a:ext cx="7971600" cy="11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lang="es" sz="34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Sesión 7: Embeddings y representación vectorial</a:t>
            </a:r>
            <a:endParaRPr b="0" i="0" sz="31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 title="slide-00-arquitectura-por-capas_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 title="slide-02-cinco-patrones-error_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 title="slide-03-modelos-matryoshka_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slide-04-mapa-familias-chunking_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slide-05-fixed-vs-recursive_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 title="slide-06-sentence-window-vs-structural_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 title="slide-07-contextual-retrieval_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3" title="slide-08-hierarchical-parent-child_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4" title="slide-09-bridge-sesion-08_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819598" cy="439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4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1065888" y="184350"/>
            <a:ext cx="70122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" sz="2600">
                <a:latin typeface="Helvetica Neue"/>
                <a:ea typeface="Helvetica Neue"/>
                <a:cs typeface="Helvetica Neue"/>
                <a:sym typeface="Helvetica Neue"/>
              </a:rPr>
              <a:t>✋Tiempo para el feedback con ROTI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200" y="803700"/>
            <a:ext cx="8187587" cy="412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6"/>
          <p:cNvPicPr preferRelativeResize="0"/>
          <p:nvPr/>
        </p:nvPicPr>
        <p:blipFill rotWithShape="1">
          <a:blip r:embed="rId3">
            <a:alphaModFix/>
          </a:blip>
          <a:srcRect b="0" l="0" r="11103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4018" y="4332691"/>
            <a:ext cx="187441" cy="19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6"/>
          <p:cNvSpPr txBox="1"/>
          <p:nvPr>
            <p:ph type="title"/>
          </p:nvPr>
        </p:nvSpPr>
        <p:spPr>
          <a:xfrm>
            <a:off x="5016100" y="1946300"/>
            <a:ext cx="286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¡GRACIAS!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4119550" y="3628925"/>
            <a:ext cx="4656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LIDR.co, AI-Powered Careers</a:t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5008288" y="4310425"/>
            <a:ext cx="8217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@lidr_ai</a:t>
            </a:r>
            <a:endParaRPr b="0" i="0" sz="1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183286" y="4310425"/>
            <a:ext cx="1836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#followtheLIDR</a:t>
            </a:r>
            <a:endParaRPr b="0" i="0" sz="1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p26"/>
          <p:cNvSpPr txBox="1"/>
          <p:nvPr>
            <p:ph type="title"/>
          </p:nvPr>
        </p:nvSpPr>
        <p:spPr>
          <a:xfrm>
            <a:off x="498411" y="972750"/>
            <a:ext cx="286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ROTI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7" name="Google Shape;147;p26" title="Screenshot 2025-10-10 at 09.53.0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 title="97708761-positive-feedback-removebg-preview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7375" y="1539750"/>
            <a:ext cx="3981175" cy="34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