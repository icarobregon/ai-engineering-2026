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Tahoma"/>
      <p:regular r:id="rId20"/>
      <p:bold r:id="rId21"/>
    </p:embeddedFont>
    <p:embeddedFont>
      <p:font typeface="Helvetica Neue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Tahoma-regular.fntdata"/><Relationship Id="rId22" Type="http://schemas.openxmlformats.org/officeDocument/2006/relationships/font" Target="fonts/HelveticaNeue-regular.fntdata"/><Relationship Id="rId21" Type="http://schemas.openxmlformats.org/officeDocument/2006/relationships/font" Target="fonts/Tahoma-bold.fntdata"/><Relationship Id="rId24" Type="http://schemas.openxmlformats.org/officeDocument/2006/relationships/font" Target="fonts/HelveticaNeue-italic.fntdata"/><Relationship Id="rId23" Type="http://schemas.openxmlformats.org/officeDocument/2006/relationships/font" Target="fonts/HelveticaNeue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HelveticaNeue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a9b3f16c0_0_0:notes"/>
          <p:cNvSpPr/>
          <p:nvPr>
            <p:ph idx="2" type="sldImg"/>
          </p:nvPr>
        </p:nvSpPr>
        <p:spPr>
          <a:xfrm>
            <a:off x="381300" y="685801"/>
            <a:ext cx="60960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g39a9b3f16c0_0_0:notes"/>
          <p:cNvSpPr txBox="1"/>
          <p:nvPr>
            <p:ph idx="1" type="body"/>
          </p:nvPr>
        </p:nvSpPr>
        <p:spPr>
          <a:xfrm>
            <a:off x="685800" y="4343401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a9b3f16c0_0_13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g39a9b3f16c0_0_13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268ba72fe_0_13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g3f268ba72fe_0_13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268ba72fe_0_0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g3f268ba72fe_0_0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268ba72fe_0_4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g3f268ba72fe_0_4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d537e7d1e_0_6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g3ed537e7d1e_0_6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d537e7d1e_0_18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g3ed537e7d1e_0_18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062231311_0_9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g3f062231311_0_9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062231311_0_18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3f062231311_0_18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062231311_0_5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" name="Google Shape;125;g3f062231311_0_5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062231311_0_25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g3f062231311_0_25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d537e7d1e_0_0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g3ed537e7d1e_0_0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a9b3f16c0_0_19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39a9b3f16c0_0_19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a9b3f16c0_0_25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g39a9b3f16c0_0_25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84733" y="2128012"/>
            <a:ext cx="83745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730169" y="1162524"/>
            <a:ext cx="7683600" cy="24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384733" y="2128012"/>
            <a:ext cx="83745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jp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jp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jp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jp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12.jpg"/><Relationship Id="rId5" Type="http://schemas.openxmlformats.org/officeDocument/2006/relationships/image" Target="../media/image1.png"/><Relationship Id="rId6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 rotWithShape="1">
          <a:blip r:embed="rId3">
            <a:alphaModFix/>
          </a:blip>
          <a:srcRect b="0" l="0" r="11103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>
            <p:ph idx="1" type="subTitle"/>
          </p:nvPr>
        </p:nvSpPr>
        <p:spPr>
          <a:xfrm>
            <a:off x="619125" y="3462938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2200">
                <a:solidFill>
                  <a:schemeClr val="lt1"/>
                </a:solidFill>
              </a:rPr>
              <a:t>Mentor: Daniel Gil Alegre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1200">
                <a:solidFill>
                  <a:schemeClr val="lt1"/>
                </a:solidFill>
              </a:rPr>
              <a:t>LIDR.co, training the Tech Leaders’ of the future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200">
              <a:solidFill>
                <a:schemeClr val="lt1"/>
              </a:solidFill>
            </a:endParaRPr>
          </a:p>
        </p:txBody>
      </p:sp>
      <p:grpSp>
        <p:nvGrpSpPr>
          <p:cNvPr id="67" name="Google Shape;67;p15"/>
          <p:cNvGrpSpPr/>
          <p:nvPr/>
        </p:nvGrpSpPr>
        <p:grpSpPr>
          <a:xfrm>
            <a:off x="859281" y="4660913"/>
            <a:ext cx="3634798" cy="572700"/>
            <a:chOff x="5681806" y="4067013"/>
            <a:chExt cx="3634798" cy="572700"/>
          </a:xfrm>
        </p:grpSpPr>
        <p:pic>
          <p:nvPicPr>
            <p:cNvPr id="68" name="Google Shape;68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681806" y="4178804"/>
              <a:ext cx="187442" cy="199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" name="Google Shape;69;p15"/>
            <p:cNvSpPr txBox="1"/>
            <p:nvPr/>
          </p:nvSpPr>
          <p:spPr>
            <a:xfrm>
              <a:off x="5835675" y="4067013"/>
              <a:ext cx="10473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s" sz="1500" u="none" cap="none" strike="noStrike">
                  <a:solidFill>
                    <a:schemeClr val="lt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@lidr_ai</a:t>
              </a:r>
              <a:endParaRPr b="0" i="0" sz="15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70" name="Google Shape;70;p15"/>
            <p:cNvSpPr txBox="1"/>
            <p:nvPr/>
          </p:nvSpPr>
          <p:spPr>
            <a:xfrm>
              <a:off x="6934904" y="4067013"/>
              <a:ext cx="23817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s" sz="1500" u="none" cap="none" strike="noStrike">
                  <a:solidFill>
                    <a:schemeClr val="lt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#followtheLIDR</a:t>
              </a:r>
              <a:endParaRPr b="0" i="0" sz="15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pic>
        <p:nvPicPr>
          <p:cNvPr id="71" name="Google Shape;71;p15" title="Group 1197132858.png"/>
          <p:cNvPicPr preferRelativeResize="0"/>
          <p:nvPr/>
        </p:nvPicPr>
        <p:blipFill rotWithShape="1">
          <a:blip r:embed="rId5">
            <a:alphaModFix/>
          </a:blip>
          <a:srcRect b="-14110" l="0" r="0" t="-6590"/>
          <a:stretch/>
        </p:blipFill>
        <p:spPr>
          <a:xfrm>
            <a:off x="463069" y="435050"/>
            <a:ext cx="2283924" cy="653289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432700" y="994128"/>
            <a:ext cx="2394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850" lIns="36850" spcFirstLastPara="1" rIns="36850" wrap="square" tIns="36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3"/>
              <a:buFont typeface="Arial"/>
              <a:buNone/>
            </a:pPr>
            <a:r>
              <a:rPr b="1" i="0" lang="es" sz="1048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AI-Powered products</a:t>
            </a:r>
            <a:endParaRPr b="1" i="0" sz="1048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"/>
              <a:buFont typeface="Arial"/>
              <a:buNone/>
            </a:pPr>
            <a:r>
              <a:t/>
            </a:r>
            <a:endParaRPr b="0" i="0" sz="725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619125" y="1584291"/>
            <a:ext cx="72684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850" lIns="36850" spcFirstLastPara="1" rIns="36850" wrap="square" tIns="36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3"/>
              <a:buFont typeface="Arial"/>
              <a:buNone/>
            </a:pPr>
            <a:r>
              <a:rPr b="1" lang="es" sz="1648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MÓDULO 4: Arquitecturas RAG</a:t>
            </a:r>
            <a:endParaRPr b="0" i="0" sz="1325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619125" y="1932115"/>
            <a:ext cx="7268400" cy="11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850" lIns="36850" spcFirstLastPara="1" rIns="36850" wrap="square" tIns="36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3"/>
              <a:buFont typeface="Arial"/>
              <a:buNone/>
            </a:pPr>
            <a:r>
              <a:rPr b="1" lang="es" sz="3448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Sesión 11: Generaci</a:t>
            </a:r>
            <a:r>
              <a:rPr b="1" lang="es" sz="3448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ón y calidad en RAG</a:t>
            </a:r>
            <a:endParaRPr b="0" i="0" sz="3125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6" title="s11-slide-01-hilo-conducto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 title="Screenshot 2025-10-10 at 09.53.0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828950" cy="3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7" title="s11-slide-02-cuatro-metrica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 title="Screenshot 2025-10-10 at 09.53.0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828950" cy="3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8" title="s11-slide-03-baseline-leido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 title="Screenshot 2025-10-10 at 09.53.0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828950" cy="3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 title="s11-slide-04-integridad-vs-entailment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9" title="Screenshot 2025-10-10 at 09.53.0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828950" cy="3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0" title="s11-slide-05-gate-lin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0" title="Screenshot 2025-10-10 at 09.53.0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828950" cy="3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1" title="s11-slide-06-augmentatio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1" title="Screenshot 2025-10-10 at 09.53.0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828950" cy="3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2" title="s11-slide-07-sintesis-rango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2" title="Screenshot 2025-10-10 at 09.53.0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828950" cy="3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3" title="s11-slide-08-dos-modo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3" title="Screenshot 2025-10-10 at 09.53.0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828950" cy="3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4" title="s11-slide-09-ampliar-no-reembede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4" title="Screenshot 2025-10-10 at 09.53.0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828950" cy="3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5" title="s11-slide-10-arco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5" title="Screenshot 2025-10-10 at 09.53.0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828950" cy="3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idx="1" type="body"/>
          </p:nvPr>
        </p:nvSpPr>
        <p:spPr>
          <a:xfrm>
            <a:off x="714025" y="1107950"/>
            <a:ext cx="8211900" cy="16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>
                <a:latin typeface="Helvetica Neue"/>
                <a:ea typeface="Helvetica Neue"/>
                <a:cs typeface="Helvetica Neue"/>
                <a:sym typeface="Helvetica Neue"/>
              </a:rPr>
              <a:t>💻 Leer el contenido del módulo 12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50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1800"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lang="es">
                <a:latin typeface="Helvetica Neue"/>
                <a:ea typeface="Helvetica Neue"/>
                <a:cs typeface="Helvetica Neue"/>
                <a:sym typeface="Helvetica Neue"/>
              </a:rPr>
              <a:t>✍️ Realiza los ejercicios previos de la sesión 12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241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>
                <a:latin typeface="Helvetica Neue"/>
                <a:ea typeface="Helvetica Neue"/>
                <a:cs typeface="Helvetica Neue"/>
                <a:sym typeface="Helvetica Neue"/>
              </a:rPr>
              <a:t>✋ Participa en los debates, en el feed y en los comentarios de las lecciones.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0" name="Google Shape;140;p26"/>
          <p:cNvSpPr txBox="1"/>
          <p:nvPr/>
        </p:nvSpPr>
        <p:spPr>
          <a:xfrm>
            <a:off x="1630825" y="92150"/>
            <a:ext cx="6378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s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✍️ Ejercicios para la Sesión </a:t>
            </a:r>
            <a:r>
              <a:rPr lang="es" sz="2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26" title="Screenshot 2025-10-10 at 09.53.0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type="title"/>
          </p:nvPr>
        </p:nvSpPr>
        <p:spPr>
          <a:xfrm>
            <a:off x="1065888" y="184350"/>
            <a:ext cx="70122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s" sz="2600">
                <a:latin typeface="Helvetica Neue"/>
                <a:ea typeface="Helvetica Neue"/>
                <a:cs typeface="Helvetica Neue"/>
                <a:sym typeface="Helvetica Neue"/>
              </a:rPr>
              <a:t>✋Tiempo para el feedback con ROTI</a:t>
            </a:r>
            <a:endParaRPr sz="2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47" name="Google Shape;14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200" y="803700"/>
            <a:ext cx="8187587" cy="4125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7" title="Screenshot 2025-10-10 at 09.53.0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8"/>
          <p:cNvPicPr preferRelativeResize="0"/>
          <p:nvPr/>
        </p:nvPicPr>
        <p:blipFill rotWithShape="1">
          <a:blip r:embed="rId3">
            <a:alphaModFix/>
          </a:blip>
          <a:srcRect b="0" l="0" r="11103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4018" y="4332691"/>
            <a:ext cx="187441" cy="19905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8"/>
          <p:cNvSpPr txBox="1"/>
          <p:nvPr>
            <p:ph type="title"/>
          </p:nvPr>
        </p:nvSpPr>
        <p:spPr>
          <a:xfrm>
            <a:off x="5016100" y="1946300"/>
            <a:ext cx="2863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¡GRACIAS!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6" name="Google Shape;156;p28"/>
          <p:cNvSpPr txBox="1"/>
          <p:nvPr/>
        </p:nvSpPr>
        <p:spPr>
          <a:xfrm>
            <a:off x="4119550" y="3628925"/>
            <a:ext cx="46563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LIDR.co, AI-Powered Careers</a:t>
            </a:r>
            <a:endParaRPr b="0" i="0" sz="18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" name="Google Shape;157;p28"/>
          <p:cNvSpPr txBox="1"/>
          <p:nvPr/>
        </p:nvSpPr>
        <p:spPr>
          <a:xfrm>
            <a:off x="5008288" y="4310425"/>
            <a:ext cx="8217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@lidr_ai</a:t>
            </a:r>
            <a:endParaRPr b="0" i="0" sz="15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8" name="Google Shape;158;p28"/>
          <p:cNvSpPr txBox="1"/>
          <p:nvPr/>
        </p:nvSpPr>
        <p:spPr>
          <a:xfrm>
            <a:off x="6183286" y="4310425"/>
            <a:ext cx="18360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#followtheLIDR</a:t>
            </a:r>
            <a:endParaRPr b="0" i="0" sz="15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9" name="Google Shape;159;p28"/>
          <p:cNvSpPr txBox="1"/>
          <p:nvPr>
            <p:ph type="title"/>
          </p:nvPr>
        </p:nvSpPr>
        <p:spPr>
          <a:xfrm>
            <a:off x="498411" y="972750"/>
            <a:ext cx="2863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ROTI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60" name="Google Shape;160;p28" title="Screenshot 2025-10-10 at 09.53.04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450" y="92150"/>
            <a:ext cx="828950" cy="3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8" title="97708761-positive-feedback-removebg-preview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17375" y="1539750"/>
            <a:ext cx="3981175" cy="347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