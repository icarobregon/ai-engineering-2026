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Tahoma"/>
      <p:regular r:id="rId20"/>
      <p:bold r:id="rId21"/>
    </p:embeddedFont>
    <p:embeddedFont>
      <p:font typeface="Helvetica Neue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Tahoma-regular.fntdata"/><Relationship Id="rId22" Type="http://schemas.openxmlformats.org/officeDocument/2006/relationships/font" Target="fonts/HelveticaNeue-regular.fntdata"/><Relationship Id="rId21" Type="http://schemas.openxmlformats.org/officeDocument/2006/relationships/font" Target="fonts/Tahoma-bold.fntdata"/><Relationship Id="rId24" Type="http://schemas.openxmlformats.org/officeDocument/2006/relationships/font" Target="fonts/HelveticaNeue-italic.fntdata"/><Relationship Id="rId23" Type="http://schemas.openxmlformats.org/officeDocument/2006/relationships/font" Target="fonts/HelveticaNeue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HelveticaNeue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a9b3f16c0_0_0:notes"/>
          <p:cNvSpPr/>
          <p:nvPr>
            <p:ph idx="2" type="sldImg"/>
          </p:nvPr>
        </p:nvSpPr>
        <p:spPr>
          <a:xfrm>
            <a:off x="381300" y="685801"/>
            <a:ext cx="60960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9a9b3f16c0_0_0:notes"/>
          <p:cNvSpPr txBox="1"/>
          <p:nvPr>
            <p:ph idx="1" type="body"/>
          </p:nvPr>
        </p:nvSpPr>
        <p:spPr>
          <a:xfrm>
            <a:off x="685800" y="4343401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4ec9f5a5e_0_5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g3e4ec9f5a5e_0_5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a9b3f16c0_0_13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g39a9b3f16c0_0_13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4ec9f5a5e_0_10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g3e4ec9f5a5e_0_10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4ec9f5a5e_0_0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g3e4ec9f5a5e_0_0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4a68c3cc4_0_0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g3e4a68c3cc4_0_0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4a68c3cc4_0_25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e4a68c3cc4_0_25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4a68c3cc4_0_21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g3e4a68c3cc4_0_21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4a68c3cc4_0_17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e4a68c3cc4_0_17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4a68c3cc4_0_13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g3e4a68c3cc4_0_13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4a68c3cc4_0_9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e4a68c3cc4_0_9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4a68c3cc4_0_5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e4a68c3cc4_0_5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a9b3f16c0_0_19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g39a9b3f16c0_0_19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a9b3f16c0_0_25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g39a9b3f16c0_0_25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84733" y="2128012"/>
            <a:ext cx="83745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30169" y="1162524"/>
            <a:ext cx="7683600" cy="24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384733" y="2128012"/>
            <a:ext cx="83745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8.jpg"/><Relationship Id="rId5" Type="http://schemas.openxmlformats.org/officeDocument/2006/relationships/image" Target="../media/image3.png"/><Relationship Id="rId6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 rotWithShape="1">
          <a:blip r:embed="rId3">
            <a:alphaModFix/>
          </a:blip>
          <a:srcRect b="0" l="0" r="11103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>
            <p:ph idx="1" type="subTitle"/>
          </p:nvPr>
        </p:nvSpPr>
        <p:spPr>
          <a:xfrm>
            <a:off x="619125" y="3462938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2200">
                <a:solidFill>
                  <a:schemeClr val="lt1"/>
                </a:solidFill>
              </a:rPr>
              <a:t>Mentor: Juan Pablo Mesa López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1200">
                <a:solidFill>
                  <a:schemeClr val="lt1"/>
                </a:solidFill>
              </a:rPr>
              <a:t>LIDR.co, training the Tech Leaders’ of the future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</p:txBody>
      </p:sp>
      <p:grpSp>
        <p:nvGrpSpPr>
          <p:cNvPr id="67" name="Google Shape;67;p15"/>
          <p:cNvGrpSpPr/>
          <p:nvPr/>
        </p:nvGrpSpPr>
        <p:grpSpPr>
          <a:xfrm>
            <a:off x="859281" y="4660913"/>
            <a:ext cx="3634798" cy="572700"/>
            <a:chOff x="5681806" y="4067013"/>
            <a:chExt cx="3634798" cy="572700"/>
          </a:xfrm>
        </p:grpSpPr>
        <p:pic>
          <p:nvPicPr>
            <p:cNvPr id="68" name="Google Shape;68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681806" y="4178804"/>
              <a:ext cx="187442" cy="199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p15"/>
            <p:cNvSpPr txBox="1"/>
            <p:nvPr/>
          </p:nvSpPr>
          <p:spPr>
            <a:xfrm>
              <a:off x="5835675" y="4067013"/>
              <a:ext cx="10473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s" sz="1500" u="none" cap="none" strike="noStrike">
                  <a:solidFill>
                    <a:schemeClr val="lt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@lidr_ai</a:t>
              </a:r>
              <a:endParaRPr b="0" i="0" sz="15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0" name="Google Shape;70;p15"/>
            <p:cNvSpPr txBox="1"/>
            <p:nvPr/>
          </p:nvSpPr>
          <p:spPr>
            <a:xfrm>
              <a:off x="6934904" y="4067013"/>
              <a:ext cx="23817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s" sz="1500" u="none" cap="none" strike="noStrike">
                  <a:solidFill>
                    <a:schemeClr val="lt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#followtheLIDR</a:t>
              </a:r>
              <a:endParaRPr b="0" i="0" sz="15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id="71" name="Google Shape;71;p15" title="Group 1197132858.png"/>
          <p:cNvPicPr preferRelativeResize="0"/>
          <p:nvPr/>
        </p:nvPicPr>
        <p:blipFill rotWithShape="1">
          <a:blip r:embed="rId5">
            <a:alphaModFix/>
          </a:blip>
          <a:srcRect b="-14110" l="0" r="0" t="-6590"/>
          <a:stretch/>
        </p:blipFill>
        <p:spPr>
          <a:xfrm>
            <a:off x="463069" y="435050"/>
            <a:ext cx="2283924" cy="653289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432700" y="994128"/>
            <a:ext cx="2394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850" lIns="36850" spcFirstLastPara="1" rIns="36850" wrap="square" tIns="36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3"/>
              <a:buFont typeface="Arial"/>
              <a:buNone/>
            </a:pPr>
            <a:r>
              <a:rPr b="1" i="0" lang="es" sz="1048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AI-Powered products</a:t>
            </a:r>
            <a:endParaRPr b="1" i="0" sz="1048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619125" y="1399863"/>
            <a:ext cx="72684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850" lIns="36850" spcFirstLastPara="1" rIns="36850" wrap="square" tIns="36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3"/>
              <a:buFont typeface="Arial"/>
              <a:buNone/>
            </a:pPr>
            <a:r>
              <a:rPr b="1" lang="es" sz="1648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MÓDULO 3: Data-driven AI</a:t>
            </a:r>
            <a:endParaRPr b="0" i="0" sz="1325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619125" y="1747697"/>
            <a:ext cx="7971600" cy="16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850" lIns="36850" spcFirstLastPara="1" rIns="36850" wrap="square" tIns="36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3"/>
              <a:buFont typeface="Arial"/>
              <a:buNone/>
            </a:pPr>
            <a:r>
              <a:rPr b="1" lang="es" sz="3448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Sesión 6: </a:t>
            </a:r>
            <a:r>
              <a:rPr b="1" lang="es" sz="3448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Fundamentos de data driven AI - Análisis, formateo y normalización de datos existentes</a:t>
            </a:r>
            <a:endParaRPr b="0" i="0" sz="3125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 title="sesion_06_slide_intro_a_data_driven_ai_definitio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200" y="372501"/>
            <a:ext cx="8305699" cy="464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 title="Screenshot 2025-10-10 at 09.53.0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 title="Screenshot 2025-10-10 at 09.53.0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 title="sesion_06_slide_intro_b_generic_vs_data_driven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8800" y="0"/>
            <a:ext cx="7285414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8" title="sesion_06_slide_2_1_b_rag_vs_finetuning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750" y="266758"/>
            <a:ext cx="8729250" cy="4876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 title="Screenshot 2025-10-10 at 09.53.0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 title="Screenshot 2025-10-10 at 09.53.0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 title="sesion_06_slide_01_five_pieces_map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92575"/>
            <a:ext cx="8839200" cy="364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 title="Screenshot 2025-10-10 at 09.53.0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 title="sesion_06_slide_02_cag_four_constraint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92575"/>
            <a:ext cx="8839200" cy="4158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1" title="Screenshot 2025-10-10 at 09.53.0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1" title="sesion_06_slide_03_decision_axe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92575"/>
            <a:ext cx="8797050" cy="43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2" title="Screenshot 2025-10-10 at 09.53.0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2" title="sesion_06_slide_04_three_failure_mode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92575"/>
            <a:ext cx="8839200" cy="3898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3" title="Screenshot 2025-10-10 at 09.53.0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3" title="sesion_06_slide_05_three_ingest_layer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92575"/>
            <a:ext cx="7868560" cy="43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4" title="Screenshot 2025-10-10 at 09.53.0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4" title="sesion_06_slide_06_offline_online_split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92575"/>
            <a:ext cx="8839200" cy="4158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5" title="Screenshot 2025-10-10 at 09.53.0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5" title="sesion_06_slide_07_four_dirt_familie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92575"/>
            <a:ext cx="8797050" cy="43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6" title="Screenshot 2025-10-10 at 09.53.0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6" title="sesion_06_slide_08_three_leakage_mode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92575"/>
            <a:ext cx="8797050" cy="43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1065888" y="184350"/>
            <a:ext cx="70122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s" sz="2600">
                <a:latin typeface="Helvetica Neue"/>
                <a:ea typeface="Helvetica Neue"/>
                <a:cs typeface="Helvetica Neue"/>
                <a:sym typeface="Helvetica Neue"/>
              </a:rPr>
              <a:t>✋Tiempo para el feedback con ROTI</a:t>
            </a:r>
            <a:endParaRPr sz="2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6" name="Google Shape;14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200" y="803700"/>
            <a:ext cx="8187587" cy="4125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7" title="Screenshot 2025-10-10 at 09.53.0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8"/>
          <p:cNvPicPr preferRelativeResize="0"/>
          <p:nvPr/>
        </p:nvPicPr>
        <p:blipFill rotWithShape="1">
          <a:blip r:embed="rId3">
            <a:alphaModFix/>
          </a:blip>
          <a:srcRect b="0" l="0" r="11103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4018" y="4332691"/>
            <a:ext cx="187441" cy="19905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8"/>
          <p:cNvSpPr txBox="1"/>
          <p:nvPr>
            <p:ph type="title"/>
          </p:nvPr>
        </p:nvSpPr>
        <p:spPr>
          <a:xfrm>
            <a:off x="5016100" y="1946300"/>
            <a:ext cx="2863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¡GRACIAS!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5" name="Google Shape;155;p28"/>
          <p:cNvSpPr txBox="1"/>
          <p:nvPr/>
        </p:nvSpPr>
        <p:spPr>
          <a:xfrm>
            <a:off x="4119550" y="3628925"/>
            <a:ext cx="46563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LIDR.co, AI-Powered Careers</a:t>
            </a:r>
            <a:endParaRPr b="0" i="0" sz="18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" name="Google Shape;156;p28"/>
          <p:cNvSpPr txBox="1"/>
          <p:nvPr/>
        </p:nvSpPr>
        <p:spPr>
          <a:xfrm>
            <a:off x="5008288" y="4310425"/>
            <a:ext cx="8217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@lidr_ai</a:t>
            </a:r>
            <a:endParaRPr b="0" i="0" sz="15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" name="Google Shape;157;p28"/>
          <p:cNvSpPr txBox="1"/>
          <p:nvPr/>
        </p:nvSpPr>
        <p:spPr>
          <a:xfrm>
            <a:off x="6183286" y="4310425"/>
            <a:ext cx="18360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#followtheLIDR</a:t>
            </a:r>
            <a:endParaRPr b="0" i="0" sz="15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" name="Google Shape;158;p28"/>
          <p:cNvSpPr txBox="1"/>
          <p:nvPr>
            <p:ph type="title"/>
          </p:nvPr>
        </p:nvSpPr>
        <p:spPr>
          <a:xfrm>
            <a:off x="498411" y="972750"/>
            <a:ext cx="2863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ROTI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9" name="Google Shape;159;p28" title="Screenshot 2025-10-10 at 09.53.04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8" title="97708761-positive-feedback-removebg-preview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17375" y="1539750"/>
            <a:ext cx="3981175" cy="347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